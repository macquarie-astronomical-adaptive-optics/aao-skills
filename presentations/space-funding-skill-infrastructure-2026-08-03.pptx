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5c2862ed164b1d" /><Relationship Type="http://schemas.openxmlformats.org/officeDocument/2006/relationships/extended-properties" Target="/docProps/app.xml" Id="Rba617b9bc15e4aa2" /><Relationship Type="http://schemas.openxmlformats.org/officeDocument/2006/relationships/officeDocument" Target="/ppt/presentation.xml" Id="R0c1b7c5c402342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21248194b489e"/>
  </p:sldMasterIdLst>
  <p:notesMasterIdLst>
    <p:notesMasterId xmlns:r="http://schemas.openxmlformats.org/officeDocument/2006/relationships" r:id="R4419a5978d2e4d7d"/>
  </p:notesMasterIdLst>
  <p:sldIdLst>
    <p:sldId xmlns:r="http://schemas.openxmlformats.org/officeDocument/2006/relationships" id="256" r:id="Rfc09f78ec5834b7f"/>
    <p:sldId xmlns:r="http://schemas.openxmlformats.org/officeDocument/2006/relationships" id="257" r:id="R3736aaac8ccb4bc8"/>
    <p:sldId xmlns:r="http://schemas.openxmlformats.org/officeDocument/2006/relationships" id="258" r:id="R7de5b2ccd4e74b93"/>
    <p:sldId xmlns:r="http://schemas.openxmlformats.org/officeDocument/2006/relationships" id="259" r:id="R09ff117d1c684562"/>
    <p:sldId xmlns:r="http://schemas.openxmlformats.org/officeDocument/2006/relationships" id="260" r:id="R0d39f12a28ac44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88b17054a547ea" /><Relationship Type="http://schemas.openxmlformats.org/officeDocument/2006/relationships/slideMaster" Target="/ppt/slideMasters/slideMaster1.xml" Id="R71c21248194b489e" /><Relationship Type="http://schemas.openxmlformats.org/officeDocument/2006/relationships/notesMaster" Target="/ppt/notesMasters/notesMaster1.xml" Id="R4419a5978d2e4d7d" /><Relationship Type="http://schemas.openxmlformats.org/officeDocument/2006/relationships/presProps" Target="/ppt/presProps.xml" Id="R10b492e5fbea4112" /><Relationship Type="http://schemas.openxmlformats.org/officeDocument/2006/relationships/tableStyles" Target="/ppt/tableStyles.xml" Id="R188386f8d9d14008" /><Relationship Type="http://schemas.openxmlformats.org/officeDocument/2006/relationships/slide" Target="/ppt/slides/slide1.xml" Id="Rfc09f78ec5834b7f" /><Relationship Type="http://schemas.openxmlformats.org/officeDocument/2006/relationships/slide" Target="/ppt/slides/slide2.xml" Id="R3736aaac8ccb4bc8" /><Relationship Type="http://schemas.openxmlformats.org/officeDocument/2006/relationships/slide" Target="/ppt/slides/slide3.xml" Id="R7de5b2ccd4e74b93" /><Relationship Type="http://schemas.openxmlformats.org/officeDocument/2006/relationships/slide" Target="/ppt/slides/slide4.xml" Id="R09ff117d1c684562" /><Relationship Type="http://schemas.openxmlformats.org/officeDocument/2006/relationships/slide" Target="/ppt/slides/slide5.xml" Id="R0d39f12a28ac44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2d58f779044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db852473894e45" /><Relationship Type="http://schemas.openxmlformats.org/officeDocument/2006/relationships/notesMaster" Target="/ppt/notesMasters/notesMaster1.xml" Id="R368e5579dda944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16b7ba2f04ef4" /><Relationship Type="http://schemas.openxmlformats.org/officeDocument/2006/relationships/notesMaster" Target="/ppt/notesMasters/notesMaster1.xml" Id="R39ce6c5852a947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ba8dccb4004c2b" /><Relationship Type="http://schemas.openxmlformats.org/officeDocument/2006/relationships/notesMaster" Target="/ppt/notesMasters/notesMaster1.xml" Id="R97942c9c7ac44b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4401dab2e94055" /><Relationship Type="http://schemas.openxmlformats.org/officeDocument/2006/relationships/notesMaster" Target="/ppt/notesMasters/notesMaster1.xml" Id="R6b55b75a74c545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100220990e4133" /><Relationship Type="http://schemas.openxmlformats.org/officeDocument/2006/relationships/notesMaster" Target="/ppt/notesMasters/notesMaster1.xml" Id="R053b83e3fb3b44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Horizon Europe document experiment is now packaged as repeatable infrastructure rather than a one-off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AAO-skills repository, current build, 2026-08-03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 discovers skills from .agents/skills; Claude Code discovers them from .claude/skills. The repository keeps one canonical file. macOS and Linux use links; Windows receives managed copies.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https://developers.openai.com/codex/skills</a:t>
            </a:r>
          </a:p>
          <a:p xmlns:a="http://schemas.openxmlformats.org/drawingml/2006/main">
            <a:r>
              <a:t>- https://docs.anthropic.com/en/docs/claude-code/skills</a:t>
            </a:r>
          </a:p>
          <a:p xmlns:a="http://schemas.openxmlformats.org/drawingml/2006/main">
            <a:r>
              <a:t>- https://agentskills.io/specification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platform has a dedicated decoder with its own source hierarchy, hard eligibility gates, output template and evaluation cases. A router selects the right decoder and keeps cross-platform comparisons consistent.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https://ec.europa.eu/info/funding-tenders/opportunities/portal/screen/support/apis</a:t>
            </a:r>
          </a:p>
          <a:p xmlns:a="http://schemas.openxmlformats.org/drawingml/2006/main">
            <a:r>
              <a:t>- https://nspires.nasaprs.com/external/</a:t>
            </a:r>
          </a:p>
          <a:p xmlns:a="http://schemas.openxmlformats.org/drawingml/2006/main">
            <a:r>
              <a:t>- https://www.esa.int/Enabling_Support/Preparing_for_the_Future/Discovery_and_Preparation/The_Open_Space_Innovation_Platform_OSIP</a:t>
            </a:r>
          </a:p>
          <a:p xmlns:a="http://schemas.openxmlformats.org/drawingml/2006/main">
            <a:r>
              <a:t>- https://www.space.gov.au/grant-programs-and-support-opportunities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field-test record is intentionally cautious: the 145 parsed records are structural topics, not 145 live opportunities. EUACC and GrantIQ are hosted MCP candidates. Two community skills were inspected; neither supplied the same portable, source-bound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plugins/aao-skills/skills/horizon-europe-decoder/references/field-test-2026-08-03.md</a:t>
            </a:r>
          </a:p>
          <a:p xmlns:a="http://schemas.openxmlformats.org/drawingml/2006/main">
            <a:r>
              <a:t>- plugins/aao-skills/skills/horizon-europe-decoder/references/existing-integrations-2026-08-03.md</a:t>
            </a:r>
          </a:p>
          <a:p xmlns:a="http://schemas.openxmlformats.org/drawingml/2006/main">
            <a:r>
              <a:t>- https://www.euacc.ai/ai-tools</a:t>
            </a:r>
          </a:p>
          <a:p xmlns:a="http://schemas.openxmlformats.org/drawingml/2006/main">
            <a:r>
              <a:t>- https://github.com/akis111/grantiq-mcp</a:t>
            </a:r>
          </a:p>
          <a:p xmlns:a="http://schemas.openxmlformats.org/drawingml/2006/main">
            <a:r>
              <a:t>- https://github.com/wentorai/research-plugins/blob/bf44b3cd617fa94c8a1b254c5d1987142ca3d631/skills/research/funding/eu-horizon-guide/SKILL.md</a:t>
            </a:r>
          </a:p>
          <a:p xmlns:a="http://schemas.openxmlformats.org/drawingml/2006/main">
            <a:r>
              <a:t>- https://github.com/majiayu000/claude-skill-registry/blob/108064e782d02f455fb627e7b0ca2c5d7494da18/skills/data/eu-grant-hunter/SKILL.md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same candidate project across the portals, then compare whether each decoder identifies applicant gates, deadlines, restrictions and source evidence correctly. No application should be inferred from a discovery result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plugins/aao-skills/skills/space-funding-router/evals/cases.md</a:t>
            </a:r>
          </a:p>
          <a:p xmlns:a="http://schemas.openxmlformats.org/drawingml/2006/main">
            <a:r>
              <a:t>- plugins/aao-skills/skills/horizon-europe-decoder/evals/cases.md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3e05f83ab4e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9d6b52a3804341" /><Relationship Type="http://schemas.openxmlformats.org/officeDocument/2006/relationships/slideLayout" Target="/ppt/slideLayouts/slideLayout1.xml" Id="Ra75062f28f2a41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5062f28f2a41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54fefaf604946" /><Relationship Type="http://schemas.openxmlformats.org/officeDocument/2006/relationships/notesSlide" Target="/ppt/notesSlides/notesSlide1.xml" Id="R81d1a8e321df41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f43b2943740df" /><Relationship Type="http://schemas.openxmlformats.org/officeDocument/2006/relationships/notesSlide" Target="/ppt/notesSlides/notesSlide2.xml" Id="Rc42d9f92c8334c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997375e864727" /><Relationship Type="http://schemas.openxmlformats.org/officeDocument/2006/relationships/notesSlide" Target="/ppt/notesSlides/notesSlide3.xml" Id="Ra9f2fedbe4fa4e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522244ea74ae5" /><Relationship Type="http://schemas.openxmlformats.org/officeDocument/2006/relationships/notesSlide" Target="/ppt/notesSlides/notesSlide4.xml" Id="Rbd04cf8b428e4b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133d94b4b4746" /><Relationship Type="http://schemas.openxmlformats.org/officeDocument/2006/relationships/notesSlide" Target="/ppt/notesSlides/notesSlide5.xml" Id="R5eee0862160840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7B52F1C-C567-43A4-B0CF-B18BCD94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decoder became
a reusable portfolio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6792647-A7D4-4931-AD69-CC2E7AFE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Horizon Europe tested • dual-agent install • three new space funding platforms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E88AA3D-14FE-4A71-98D9-7B343525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AAO FUNDING INTELLIGENCE</a:t>
            </a:r>
          </a:p>
        </p:txBody>
      </p:sp>
    </p:spTree>
    <p:extLst>
      <p:ext uri="{BB962C8B-B14F-4D97-AF65-F5344CB8AC3E}">
        <p14:creationId xmlns:p14="http://schemas.microsoft.com/office/powerpoint/2010/main" val="17260833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E5775F6-7DEC-40AC-8795-6B22426B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SKILL.md
serves both agents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7A5FF7A-B5D2-42DE-9C04-9529F3A5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CANONICAL SKILL TREE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8BD1CA9-144C-4579-AA24-E41483B6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CODEX + CLAUDE</a:t>
            </a:r>
          </a:p>
        </p:txBody>
      </p:sp>
    </p:spTree>
    <p:extLst>
      <p:ext uri="{BB962C8B-B14F-4D97-AF65-F5344CB8AC3E}">
        <p14:creationId xmlns:p14="http://schemas.microsoft.com/office/powerpoint/2010/main" val="14552055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B8AE950-7D51-4DBC-8709-EC85D2A4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39E060F-4689-49E2-B8E4-4C21261F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Lee’s funding search now spans four official source systems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9941C24-7BB4-4F7A-8FD3-7BBA25FB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Horizon Europe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Call documents decoded
into sourced eligibility briefs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C1A565B-485B-4F1E-AAB2-DFA0E7F3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NASA NSPIRES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ROSES and notices checked
for foreign-participation gates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E0D2CAE-354D-42FB-8B04-B806DB98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ESA OSIP / esa-star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Ideas, proposals and tenders
kept as distinct routes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CF758A6-EEB3-4DFC-B521-AA9A10E4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Australian programmes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Space Agency, GrantConnect,
ARC and business.gov.au routed</a:t>
            </a:r>
          </a:p>
        </p:txBody>
      </p:sp>
    </p:spTree>
    <p:extLst>
      <p:ext uri="{BB962C8B-B14F-4D97-AF65-F5344CB8AC3E}">
        <p14:creationId xmlns:p14="http://schemas.microsoft.com/office/powerpoint/2010/main" val="2688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1CB47C6-39CB-4B7A-8B02-5E76E95A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57AC555-81AC-4DA9-8815-502D2AE9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Field tests strengthened the decoder—and exposed integration gaps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B1B464A-1681-42D3-B2C8-C56A24C1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92D6CE2-289A-4F74-878E-7CC1E7DC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Decoder strengthened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BA7F097-D3DD-4B3E-9F41-0C4B060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145 records labelled as structural topics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False boundaries added to regression coverage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Participation separated from funding eligibility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D09DF74-BB06-4169-AA9A-8578995C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4CC25A7F-BE17-4987-B005-FD303BCA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turnkey dependency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8ECB9CC-CD57-47D2-A877-510FCFD7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Official EU API remains the discovery base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hosted MCPs need controlled pilots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Community skills were primers or incomplete copies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B7337E3-73B3-454A-AF89-4D4EFBB4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Tender-document tests improved identity checks, PCP/PPI/COFUND recognition and evidence handling.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Online integrations help discovery, but none replaced exact call-document analysis.</a:t>
            </a:r>
          </a:p>
        </p:txBody>
      </p:sp>
    </p:spTree>
    <p:extLst>
      <p:ext uri="{BB962C8B-B14F-4D97-AF65-F5344CB8AC3E}">
        <p14:creationId xmlns:p14="http://schemas.microsoft.com/office/powerpoint/2010/main" val="8121264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EDD9BFA-22BD-4D04-B8DF-627030F5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CD4A871-ABA7-4A4D-B3BF-21134896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next useful test is a live, cross-portal opportunity scan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DEE6A6A-38DD-4A57-8C3E-8932C954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08D6C20-2596-4FE9-8DFC-36C1101E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2ECB8CF-CEF4-4DC7-83AF-C7F8D0E5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D085C1A-3DD8-4C20-840E-637F3C78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NOW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685F598-2BA8-4F4A-958F-1F8A21D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ACBCE6B-9C97-45EA-B1DE-B66C4C44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9F9E1E5-235F-4454-A1EE-41E9C822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outputs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eligibility, evidence quality and false positives.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7276818-2437-421B-AB43-B8EDDA5A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live rounds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all four decoders against current official source documents.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0AD23D2-359B-4EDD-9D24-C3C36FAA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integrations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official APIs; pilot hosted MCPs only if controls pass.</a:t>
            </a:r>
          </a:p>
        </p:txBody>
      </p:sp>
    </p:spTree>
    <p:extLst>
      <p:ext uri="{BB962C8B-B14F-4D97-AF65-F5344CB8AC3E}">
        <p14:creationId xmlns:p14="http://schemas.microsoft.com/office/powerpoint/2010/main" val="1027286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2026-08-03T13:02:39.2580000Z</dcterms:created>
  <dcterms:modified xsi:type="dcterms:W3CDTF">2026-08-03T13:02:39.2580000Z</dcterms:modified>
</coreProperties>
</file>