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035a852a5f4090" /><Relationship Type="http://schemas.openxmlformats.org/officeDocument/2006/relationships/extended-properties" Target="/docProps/app.xml" Id="Rbc6cb52967d44d5b" /><Relationship Type="http://schemas.openxmlformats.org/officeDocument/2006/relationships/officeDocument" Target="/ppt/presentation.xml" Id="Rcddf66f2c02e48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1592de48f8402d"/>
  </p:sldMasterIdLst>
  <p:notesMasterIdLst>
    <p:notesMasterId xmlns:r="http://schemas.openxmlformats.org/officeDocument/2006/relationships" r:id="R8baee0e36ff24fd7"/>
  </p:notesMasterIdLst>
  <p:sldIdLst>
    <p:sldId xmlns:r="http://schemas.openxmlformats.org/officeDocument/2006/relationships" id="256" r:id="R3bf269ad4f9a4710"/>
    <p:sldId xmlns:r="http://schemas.openxmlformats.org/officeDocument/2006/relationships" id="257" r:id="R564d29e2e22447cd"/>
    <p:sldId xmlns:r="http://schemas.openxmlformats.org/officeDocument/2006/relationships" id="258" r:id="R073c598326be4957"/>
    <p:sldId xmlns:r="http://schemas.openxmlformats.org/officeDocument/2006/relationships" id="259" r:id="R897250be053045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51be49781849a6" /><Relationship Type="http://schemas.openxmlformats.org/officeDocument/2006/relationships/slideMaster" Target="/ppt/slideMasters/slideMaster1.xml" Id="R3e1592de48f8402d" /><Relationship Type="http://schemas.openxmlformats.org/officeDocument/2006/relationships/notesMaster" Target="/ppt/notesMasters/notesMaster1.xml" Id="R8baee0e36ff24fd7" /><Relationship Type="http://schemas.openxmlformats.org/officeDocument/2006/relationships/presProps" Target="/ppt/presProps.xml" Id="Rf1496c2be1cc4ded" /><Relationship Type="http://schemas.openxmlformats.org/officeDocument/2006/relationships/tableStyles" Target="/ppt/tableStyles.xml" Id="R81ae941fb8f744a7" /><Relationship Type="http://schemas.openxmlformats.org/officeDocument/2006/relationships/slide" Target="/ppt/slides/slide1.xml" Id="R3bf269ad4f9a4710" /><Relationship Type="http://schemas.openxmlformats.org/officeDocument/2006/relationships/slide" Target="/ppt/slides/slide2.xml" Id="R564d29e2e22447cd" /><Relationship Type="http://schemas.openxmlformats.org/officeDocument/2006/relationships/slide" Target="/ppt/slides/slide3.xml" Id="R073c598326be4957" /><Relationship Type="http://schemas.openxmlformats.org/officeDocument/2006/relationships/slide" Target="/ppt/slides/slide4.xml" Id="R897250be053045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13f3d7307349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86a5c6dc9a41fe" /><Relationship Type="http://schemas.openxmlformats.org/officeDocument/2006/relationships/notesMaster" Target="/ppt/notesMasters/notesMaster1.xml" Id="R8bf601dd9fae41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f288da3ce34f39" /><Relationship Type="http://schemas.openxmlformats.org/officeDocument/2006/relationships/notesMaster" Target="/ppt/notesMasters/notesMaster1.xml" Id="Rabc1545f19c041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565af793ba4bc2" /><Relationship Type="http://schemas.openxmlformats.org/officeDocument/2006/relationships/notesMaster" Target="/ppt/notesMasters/notesMaster1.xml" Id="Rdff4a6ce633845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82ac98821e419c" /><Relationship Type="http://schemas.openxmlformats.org/officeDocument/2006/relationships/notesMaster" Target="/ppt/notesMasters/notesMaster1.xml" Id="R8b9a281644b546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short account of what was tested, what the decoder produced and where its boundary now sits.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https://research-and-innovation.ec.europa.eu/funding/funding-opportunities/funding-programmes-and-open-calls/horizon-europe/horizon-europe-work-programmes_en</a:t>
            </a:r>
          </a:p>
          <a:p xmlns:a="http://schemas.openxmlformats.org/drawingml/2006/main">
            <a:r>
              <a:t>- /Users/gregb/Documents/devel/aao-skills/plugins/aao-skills/skills/horizon-europe-decoder/references/field-test-2026-08-03.md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important result is not merely the topic count. The decoder now distinguishes documents it can index from documents that need another rule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https://research-and-innovation.ec.europa.eu/document/download/2cfb4384-7ce4-4bbf-8394-ac64f1aef453_en</a:t>
            </a:r>
          </a:p>
          <a:p xmlns:a="http://schemas.openxmlformats.org/drawingml/2006/main">
            <a:r>
              <a:t>- https://research-and-innovation.ec.europa.eu/document/download/1a172722-bf60-4efc-b996-c7e51c90fcf0_en</a:t>
            </a:r>
          </a:p>
          <a:p xmlns:a="http://schemas.openxmlformats.org/drawingml/2006/main">
            <a:r>
              <a:t>- https://research-and-innovation.ec.europa.eu/document/download/7318fc15-13a4-484b-a74e-7c403f88fee2_en</a:t>
            </a:r>
          </a:p>
          <a:p xmlns:a="http://schemas.openxmlformats.org/drawingml/2006/main">
            <a:r>
              <a:t>- https://eic.ec.europa.eu/document/download/52598755-1351-4b54-b46b-e2682d0a3aec_en?filename=EIC-Work-Programme-2026.pdf</a:t>
            </a:r>
          </a:p>
          <a:p xmlns:a="http://schemas.openxmlformats.org/drawingml/2006/main">
            <a:r>
              <a:t>- https://ec.europa.eu/newsroom/dae/redirection/document/120356</a:t>
            </a:r>
          </a:p>
          <a:p xmlns:a="http://schemas.openxmlformats.org/drawingml/2006/main">
            <a:r>
              <a:t>- https://ec.europa.eu/info/funding-tenders/opportunities/portal/screen/opportunities/tender-details/docs/a24185a0-e36f-4260-a6f9-7b2871bfd805-CN/A.%20Istruction%20to%20tenderers_V1.pdf</a:t>
            </a:r>
          </a:p>
          <a:p xmlns:a="http://schemas.openxmlformats.org/drawingml/2006/main">
            <a:r>
              <a:t>- /Users/gregb/Documents/devel/aao/correspondence/2026-07-27-lee-spitler-horizon/attachments/document (1).pdf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counts refer to structural topic definitions in the tested PDF snapshots. They are not counts of currently open opportunities.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/Users/gregb/Documents/devel/aao-skills/plugins/aao-skills/skills/horizon-europe-decoder/references/field-test-2026-08-03.md</a:t>
            </a:r>
          </a:p>
          <a:p xmlns:a="http://schemas.openxmlformats.org/drawingml/2006/main">
            <a:r>
              <a:t>- https://research-and-innovation.ec.europa.eu/document/download/2cfb4384-7ce4-4bbf-8394-ac64f1aef453_en</a:t>
            </a:r>
          </a:p>
          <a:p xmlns:a="http://schemas.openxmlformats.org/drawingml/2006/main">
            <a:r>
              <a:t>- https://research-and-innovation.ec.europa.eu/document/download/1a172722-bf60-4efc-b996-c7e51c90fcf0_en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indexer to find and retrieve candidate topic blocks. Complete any decision against the live portal and the current governing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/Users/gregb/Documents/devel/aao-skills/plugins/aao-skills/skills/horizon-europe-decoder/references/field-test-2026-08-03.md</a:t>
            </a:r>
          </a:p>
          <a:p xmlns:a="http://schemas.openxmlformats.org/drawingml/2006/main">
            <a:r>
              <a:t>- https://research-and-innovation.ec.europa.eu/funding/funding-opportunities/funding-programmes-and-open-calls/horizon-europe/horizon-europe-work-programmes_en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41747c28314c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6883cf14a34c29" /><Relationship Type="http://schemas.openxmlformats.org/officeDocument/2006/relationships/slideLayout" Target="/ppt/slideLayouts/slideLayout1.xml" Id="R31de43d4eec945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de43d4eec945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4d1e39bc845a7" /><Relationship Type="http://schemas.openxmlformats.org/officeDocument/2006/relationships/notesSlide" Target="/ppt/notesSlides/notesSlide1.xml" Id="R8669c0c647a441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46c9e755d4921" /><Relationship Type="http://schemas.openxmlformats.org/officeDocument/2006/relationships/notesSlide" Target="/ppt/notesSlides/notesSlide2.xml" Id="Re76c8c3e4ae945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08036184a49a3" /><Relationship Type="http://schemas.openxmlformats.org/officeDocument/2006/relationships/notesSlide" Target="/ppt/notesSlides/notesSlide3.xml" Id="Rb395959e10554f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f7be64c8e4e53" /><Relationship Type="http://schemas.openxmlformats.org/officeDocument/2006/relationships/notesSlide" Target="/ppt/notesSlides/notesSlide4.xml" Id="Rec40904314c14a7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452FDA3E-EFBB-41E3-A7F7-44334998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111827"/>
                </a:solidFill>
              </a:rPr>
              <a:t>Horizon Europe
</a:t>
            </a:r>
            <a:r>
              <a:rPr sz="6000" b="1">
                <a:solidFill>
                  <a:srgbClr val="0B5CAD"/>
                </a:solidFill>
              </a:rPr>
              <a:t>decoder field test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1E0B39E3-8DBE-4AE7-B823-EC610746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374151"/>
                </a:solidFill>
              </a:rPr>
              <a:t>Seven EU document snapshots · 3 August 2026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8AB5FFD-26E9-46ED-9619-77A8FBC3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5CAD"/>
                </a:solidFill>
              </a:rPr>
              <a:t>AAO SKILLS · FIELD TEST</a:t>
            </a:r>
          </a:p>
        </p:txBody>
      </p:sp>
    </p:spTree>
    <p:extLst>
      <p:ext uri="{BB962C8B-B14F-4D97-AF65-F5344CB8AC3E}">
        <p14:creationId xmlns:p14="http://schemas.microsoft.com/office/powerpoint/2010/main" val="206684996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7205888-906E-4617-BC11-94D44CB4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B960475-F720-4D8D-8025-71451BE9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827"/>
                </a:solidFill>
              </a:rPr>
              <a:t>Seven EU documents, four distinct routes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4DD9343-FB2E-4A52-A920-8F33BD69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5CAD"/>
                </a:solidFill>
              </a:rPr>
              <a:t>Corpus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374151"/>
                </a:solidFill>
              </a:rPr>
              <a:t>Lee’s Cluster 4 PDF, two comparable Horizon work programmes and four adjacent official documents.</a:t>
            </a:r>
          </a:p>
        </p:txBody>
      </p:sp>
      <p:graphicFrame>
        <p:nvGraphicFramePr>
          <p:cNvPr id="8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107"/>
                <a:gridCol w="1874615"/>
                <a:gridCol w="1874615"/>
                <a:gridCol w="1874615"/>
                <a:gridCol w="1874615"/>
              </a:tblGrid>
              <a:tr h="436954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827"/>
                          </a:solidFill>
                        </a:rPr>
                        <a:t>Document</a:t>
                      </a:r>
                    </a:p>
                  </a:txBody>
                  <a:tcPr marL="91440" marR="91440" marT="45720" marB="45720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827"/>
                          </a:solidFill>
                        </a:rPr>
                        <a:t>Family</a:t>
                      </a:r>
                    </a:p>
                  </a:txBody>
                  <a:tcPr marL="91440" marR="91440" marT="45720" marB="45720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827"/>
                          </a:solidFill>
                        </a:rPr>
                        <a:t>Pages</a:t>
                      </a:r>
                    </a:p>
                  </a:txBody>
                  <a:tcPr marL="91440" marR="91440" marT="45720" marB="45720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827"/>
                          </a:solidFill>
                        </a:rPr>
                        <a:t>Topics</a:t>
                      </a:r>
                    </a:p>
                  </a:txBody>
                  <a:tcPr marL="91440" marR="91440" marT="45720" marB="45720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827"/>
                          </a:solidFill>
                        </a:rPr>
                        <a:t>Outcome</a:t>
                      </a:r>
                    </a:p>
                  </a:txBody>
                  <a:tcPr marL="91440" marR="91440" marT="45720" marB="45720">
                    <a:solidFill>
                      <a:srgbClr val="DCEEFF"/>
                    </a:solidFill>
                  </a:tcPr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Cluster 4 (Lee)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Main WP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314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78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Indexed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Research Infrastructures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Main WP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118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Indexed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Civil Security (Cluster 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Main WP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174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45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Indexed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General Annexes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Governing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46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Routed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EIC 2026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Separate WP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209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Routed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Digital Europe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Other programme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216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Routed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Tender instructions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Procurement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19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</a:rPr>
                        <a:t>Routed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827"/>
                          </a:solidFill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827"/>
                          </a:solidFill>
                        </a:rPr>
                        <a:t>7 snapshots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827"/>
                          </a:solidFill>
                        </a:rPr>
                        <a:t>1,096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827"/>
                          </a:solidFill>
                        </a:rPr>
                        <a:t>145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827"/>
                          </a:solidFill>
                        </a:rPr>
                        <a:t>3 indexed / 4 routed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60169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E48C7173-FBAC-4371-9765-1F1E51D5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1E883AD6-C2E0-4E7F-A410-EE3404C5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CC25C57A-97C7-4C8C-9D2A-CA71DFFA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DFC3AB75-4AA5-4081-AC97-3DA09DFB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4B5E8D99-9E60-4458-B022-9DBF33F8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827"/>
                </a:solidFill>
              </a:rPr>
              <a:t>The main-work-programme path held up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117EF763-79D7-4D32-99DD-CC475E50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</a:rPr>
              <a:t>Cluster 4
topics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13E6902-357E-442B-B561-DCCFAE67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</a:rPr>
              <a:t>Infrastructure
topics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3BF3335A-C366-4330-8834-F1BEB110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</a:rPr>
              <a:t>Civil Security
topics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3A1E6B88-85F1-45B2-98C7-40DCE494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450" b="1">
                <a:solidFill>
                  <a:srgbClr val="0B5CAD"/>
                </a:solidFill>
              </a:rPr>
              <a:t>78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701B0723-C1F6-4B06-BD4F-2F4CFF88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450" b="1">
                <a:solidFill>
                  <a:srgbClr val="0B5CAD"/>
                </a:solidFill>
              </a:rPr>
              <a:t>45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6253BFAD-CD6F-47F9-8059-9F1B825B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450" b="1">
                <a:solidFill>
                  <a:srgbClr val="0B5CAD"/>
                </a:solidFill>
              </a:rPr>
              <a:t>22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0BF96243-C605-4B2C-98A4-52CFC893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5CAD"/>
                </a:solidFill>
              </a:rPr>
              <a:t>145 topic records · 0 missing action types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374151"/>
                </a:solidFill>
              </a:rPr>
              <a:t>The corrected parser recognised RIA, IA, CSA, PCP, PPI and COFUND across the three comparable PDFs.</a:t>
            </a:r>
          </a:p>
        </p:txBody>
      </p:sp>
    </p:spTree>
    <p:extLst>
      <p:ext uri="{BB962C8B-B14F-4D97-AF65-F5344CB8AC3E}">
        <p14:creationId xmlns:p14="http://schemas.microsoft.com/office/powerpoint/2010/main" val="17942059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C30319E-9B0A-485D-8DB6-91FEF97F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C89D353-1FB3-4489-9CB3-A390FFD2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827"/>
                </a:solidFill>
              </a:rPr>
              <a:t>A useful boundary is now explicit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5D6F12EC-81FF-468D-B238-CB5E6DC1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1B9F86E-647D-443B-ADB8-4F45509C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B5CAD"/>
                </a:solidFill>
              </a:rPr>
              <a:t>Now reliable for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7A3772FC-CA85-4BCE-B67E-EDB3BAE1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</a:rPr>
              <a:t>Topic-definition boundaries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374151"/>
                </a:solidFill>
              </a:rPr>
              <a:t>Action type, TRL and review cues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374151"/>
                </a:solidFill>
              </a:rPr>
              <a:t>Annex / EIC / Digital / tender routing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CB6BD229-B96E-4577-9C15-80962E0C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EE4BAC3F-23B5-4F63-9A15-8C85CA80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9A4D00"/>
                </a:solidFill>
              </a:rPr>
              <a:t>Still requires an analyst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26413E9-4F2C-4F2E-A01D-67D19EAF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</a:rPr>
              <a:t>Live status, deadlines and updates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374151"/>
                </a:solidFill>
              </a:rPr>
              <a:t>Country, consortium and security eligibility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374151"/>
                </a:solidFill>
              </a:rPr>
              <a:t>Current application documents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BFFB882E-5099-4562-8D94-E42D40C9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5CAD"/>
                </a:solidFill>
              </a:rPr>
              <a:t>How it went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374151"/>
                </a:solidFill>
              </a:rPr>
              <a:t>The test exposed false topic starts, an incomplete action vocabulary and ambiguous zero-result cases.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374151"/>
                </a:solidFill>
              </a:rPr>
              <a:t>All three issues are covered by code, tests and routing guidance in the skill.</a:t>
            </a:r>
          </a:p>
        </p:txBody>
      </p:sp>
    </p:spTree>
    <p:extLst>
      <p:ext uri="{BB962C8B-B14F-4D97-AF65-F5344CB8AC3E}">
        <p14:creationId xmlns:p14="http://schemas.microsoft.com/office/powerpoint/2010/main" val="17888183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2026-08-03T09:54:59.5340000Z</dcterms:created>
  <dcterms:modified xsi:type="dcterms:W3CDTF">2026-08-03T09:54:59.5340000Z</dcterms:modified>
</coreProperties>
</file>